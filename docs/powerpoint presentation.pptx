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21E3E"/>
    <a:srgbClr val="0F172A"/>
    <a:srgbClr val="131F3A"/>
    <a:srgbClr val="F9FAFB"/>
    <a:srgbClr val="4472C4"/>
    <a:srgbClr val="E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30" autoAdjust="0"/>
    <p:restoredTop sz="94660"/>
  </p:normalViewPr>
  <p:slideViewPr>
    <p:cSldViewPr snapToGrid="0">
      <p:cViewPr varScale="1">
        <p:scale>
          <a:sx n="83" d="100"/>
          <a:sy n="8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A8DB3-0F3F-4B6F-AA02-84478B9902A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F5A51-8240-41B7-8E1A-91E587E6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33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74F8-AB7A-BBCA-82AD-2B0B84D2A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88B0-7F95-2CE6-4485-9461D9465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0F375-A75A-5B55-D210-29327401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56104-EEE4-3EFA-49B3-23D8785D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9EE00-5732-649B-9F27-5177CD59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1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CD8F-974D-C48A-C050-AF396CCFF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0F91-0F2D-C6D5-38E5-0FD9409AE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8F50E-894E-9A79-9207-DF43B417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30CC0-00C3-7956-FCDE-E2C03E79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BC72F-DD9C-7BB7-DAA4-F78C1F71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6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F12F-9766-CFE3-45EE-7890AC7E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F42CF-E3B3-D7D7-FBB7-78CEC920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E313F-2594-163F-EAC3-4B74B2FBD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74344-0082-2144-0205-1F0844ED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87417-E671-75EC-52E6-FF0452C7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7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21CC-DAC6-17A3-B15F-2D878F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BE3CA-B821-8E4B-9782-DFFFD2F9D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38CF3-4DA5-10C6-23C2-B2DC53893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A15B7-1996-FDBE-8E71-512660ED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84182-C0BC-7AB5-5515-CDA415A9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1AFE7-179A-F66B-4F2E-DFB3CBD0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73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2174-D4C4-9AFA-E55A-85B39804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033C5-6424-B2B3-A57D-CC3786664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3DFDB-BD54-91CA-5E16-E96489C39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2D479-9D05-9E04-FEC5-807F1B515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20C92-B176-C610-BCEA-41A6E8126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50D9C3-A431-B572-1F2A-AB136236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52928-ED98-1593-EA81-5BE868CF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11060-A721-3C97-4A6B-A8427B6B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39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A6607-F473-237E-5145-34F0A801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A922B-1688-9A8A-31E6-13AFC415B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0637B-7BE1-7F3C-CB86-2A4167AF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3DCA7-CB66-9B5E-805B-3EC915AF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2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B0AD85-15A9-C035-F112-D752AA46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3C616A-86C4-CEB8-E353-9A96A425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08620-11F4-AC9F-415B-5BB78314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629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A4A3-DB0C-2D01-5A0F-B3B1D876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A6653-144B-BB1B-4E1A-20A122EBA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E93C3-5B3A-ECAA-51FB-FE8C33A5B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6B2AF-E115-ED35-C52A-2AE153DA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EC485-A3A7-BA00-05F5-DBFDFD8E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C3BE8-4B3E-AA5B-F062-4E1E28BD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230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28CB-3D33-F8B6-D32B-5419940B6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EFED0-48F5-02B7-9F27-486D00536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4B17A-7E19-F875-8DF5-189EB353E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2D310-7877-1843-C1C8-D229E4CD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CD27D-AB53-706F-ADEC-1A5C57D2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04BED-B834-11F3-AA81-0B788686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83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30448-7934-E49F-0D73-D3BDC0135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B5B5C-9593-115D-14A0-36778785E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41D39-2168-0BD7-EDE5-B7BFE745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F64D4-084C-FC49-A90C-F6CBACE68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32243-8860-A3A3-AED7-81923251C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77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50D815-F085-67CF-6387-903DE54A5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AC9CB-AB4F-A379-9798-DEE28BCB8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FD131-65F2-02D2-D737-6E95D61B4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48D5F-1192-596A-FBC9-51E24F36A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237C-6593-A664-2A6F-4D9F7842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10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7192C2-A0D1-B6D9-D53B-A44E7588F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28B65-A5D6-7D4F-4034-4E8F0151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2232C-55FC-0D7A-1019-9765EBD89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4BEC6-E026-4503-B12E-1856D29B563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FE44A-9786-8740-F848-53BA19160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F20F0-A6E8-4178-1F09-35C4EFDD0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05F08-0B67-4412-8476-880796F56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21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DE8813F-C012-A894-D7A3-18FF40B190A2}"/>
              </a:ext>
            </a:extLst>
          </p:cNvPr>
          <p:cNvGrpSpPr/>
          <p:nvPr/>
        </p:nvGrpSpPr>
        <p:grpSpPr>
          <a:xfrm>
            <a:off x="-1038225" y="-1162048"/>
            <a:ext cx="15230476" cy="9286873"/>
            <a:chOff x="-1038225" y="-1162048"/>
            <a:chExt cx="15230476" cy="928687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D8613C5-17B0-421E-58B3-F6DDA314996C}"/>
                </a:ext>
              </a:extLst>
            </p:cNvPr>
            <p:cNvSpPr/>
            <p:nvPr/>
          </p:nvSpPr>
          <p:spPr>
            <a:xfrm>
              <a:off x="9315451" y="-1162048"/>
              <a:ext cx="4876800" cy="4876800"/>
            </a:xfrm>
            <a:custGeom>
              <a:avLst/>
              <a:gdLst>
                <a:gd name="connsiteX0" fmla="*/ 1833563 w 3743326"/>
                <a:gd name="connsiteY0" fmla="*/ 752475 h 3743326"/>
                <a:gd name="connsiteX1" fmla="*/ 790575 w 3743326"/>
                <a:gd name="connsiteY1" fmla="*/ 1795463 h 3743326"/>
                <a:gd name="connsiteX2" fmla="*/ 1833563 w 3743326"/>
                <a:gd name="connsiteY2" fmla="*/ 2838451 h 3743326"/>
                <a:gd name="connsiteX3" fmla="*/ 2876551 w 3743326"/>
                <a:gd name="connsiteY3" fmla="*/ 1795463 h 3743326"/>
                <a:gd name="connsiteX4" fmla="*/ 1833563 w 3743326"/>
                <a:gd name="connsiteY4" fmla="*/ 752475 h 3743326"/>
                <a:gd name="connsiteX5" fmla="*/ 1871663 w 3743326"/>
                <a:gd name="connsiteY5" fmla="*/ 0 h 3743326"/>
                <a:gd name="connsiteX6" fmla="*/ 3743326 w 3743326"/>
                <a:gd name="connsiteY6" fmla="*/ 1871663 h 3743326"/>
                <a:gd name="connsiteX7" fmla="*/ 1871663 w 3743326"/>
                <a:gd name="connsiteY7" fmla="*/ 3743326 h 3743326"/>
                <a:gd name="connsiteX8" fmla="*/ 0 w 3743326"/>
                <a:gd name="connsiteY8" fmla="*/ 1871663 h 3743326"/>
                <a:gd name="connsiteX9" fmla="*/ 1871663 w 3743326"/>
                <a:gd name="connsiteY9" fmla="*/ 0 h 374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43326" h="3743326">
                  <a:moveTo>
                    <a:pt x="1833563" y="752475"/>
                  </a:moveTo>
                  <a:cubicBezTo>
                    <a:pt x="1257537" y="752475"/>
                    <a:pt x="790575" y="1219437"/>
                    <a:pt x="790575" y="1795463"/>
                  </a:cubicBezTo>
                  <a:cubicBezTo>
                    <a:pt x="790575" y="2371489"/>
                    <a:pt x="1257537" y="2838451"/>
                    <a:pt x="1833563" y="2838451"/>
                  </a:cubicBezTo>
                  <a:cubicBezTo>
                    <a:pt x="2409589" y="2838451"/>
                    <a:pt x="2876551" y="2371489"/>
                    <a:pt x="2876551" y="1795463"/>
                  </a:cubicBezTo>
                  <a:cubicBezTo>
                    <a:pt x="2876551" y="1219437"/>
                    <a:pt x="2409589" y="752475"/>
                    <a:pt x="1833563" y="752475"/>
                  </a:cubicBezTo>
                  <a:close/>
                  <a:moveTo>
                    <a:pt x="1871663" y="0"/>
                  </a:moveTo>
                  <a:cubicBezTo>
                    <a:pt x="2905354" y="0"/>
                    <a:pt x="3743326" y="837972"/>
                    <a:pt x="3743326" y="1871663"/>
                  </a:cubicBezTo>
                  <a:cubicBezTo>
                    <a:pt x="3743326" y="2905354"/>
                    <a:pt x="2905354" y="3743326"/>
                    <a:pt x="1871663" y="3743326"/>
                  </a:cubicBezTo>
                  <a:cubicBezTo>
                    <a:pt x="837972" y="3743326"/>
                    <a:pt x="0" y="2905354"/>
                    <a:pt x="0" y="1871663"/>
                  </a:cubicBezTo>
                  <a:cubicBezTo>
                    <a:pt x="0" y="837972"/>
                    <a:pt x="837972" y="0"/>
                    <a:pt x="1871663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solidFill>
                <a:srgbClr val="131F3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400364-86B7-AAEA-7F75-7ECD5CF3F36D}"/>
                </a:ext>
              </a:extLst>
            </p:cNvPr>
            <p:cNvSpPr/>
            <p:nvPr/>
          </p:nvSpPr>
          <p:spPr>
            <a:xfrm>
              <a:off x="-1038225" y="5267325"/>
              <a:ext cx="2857500" cy="2857500"/>
            </a:xfrm>
            <a:prstGeom prst="ellipse">
              <a:avLst/>
            </a:prstGeom>
            <a:solidFill>
              <a:srgbClr val="121E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F24268F-62F7-444E-CB2E-1250AEFCB570}"/>
              </a:ext>
            </a:extLst>
          </p:cNvPr>
          <p:cNvGrpSpPr/>
          <p:nvPr/>
        </p:nvGrpSpPr>
        <p:grpSpPr>
          <a:xfrm>
            <a:off x="714375" y="276225"/>
            <a:ext cx="9925050" cy="4676775"/>
            <a:chOff x="685800" y="276225"/>
            <a:chExt cx="9925050" cy="467677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1340AC-CD1C-9B26-5CBD-7A4D96FE451C}"/>
                </a:ext>
              </a:extLst>
            </p:cNvPr>
            <p:cNvSpPr/>
            <p:nvPr/>
          </p:nvSpPr>
          <p:spPr>
            <a:xfrm>
              <a:off x="1285875" y="2933700"/>
              <a:ext cx="4219575" cy="2019300"/>
            </a:xfrm>
            <a:prstGeom prst="rect">
              <a:avLst/>
            </a:prstGeom>
            <a:solidFill>
              <a:srgbClr val="121E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dirty="0"/>
                <a:t>Team Members </a:t>
              </a:r>
              <a:br>
                <a:rPr lang="en-US" dirty="0"/>
              </a:br>
              <a:r>
                <a:rPr lang="en-US" dirty="0"/>
                <a:t>T.M Nikilesh Kumar</a:t>
              </a:r>
              <a:r>
                <a:rPr lang="en-IN" dirty="0"/>
                <a:t>(23261A05B9)</a:t>
              </a:r>
            </a:p>
            <a:p>
              <a:pPr algn="ctr">
                <a:lnSpc>
                  <a:spcPct val="150000"/>
                </a:lnSpc>
              </a:pPr>
              <a:r>
                <a:rPr lang="en-IN" dirty="0"/>
                <a:t>T. </a:t>
              </a:r>
              <a:r>
                <a:rPr lang="en-IN" dirty="0" err="1"/>
                <a:t>Venu</a:t>
              </a:r>
              <a:r>
                <a:rPr lang="en-IN" dirty="0"/>
                <a:t> (2326!A05B7)</a:t>
              </a:r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35E79FC-CADD-DA28-2FDB-88FB0F5399E2}"/>
                </a:ext>
              </a:extLst>
            </p:cNvPr>
            <p:cNvGrpSpPr/>
            <p:nvPr/>
          </p:nvGrpSpPr>
          <p:grpSpPr>
            <a:xfrm>
              <a:off x="685800" y="276225"/>
              <a:ext cx="9001125" cy="1962150"/>
              <a:chOff x="685800" y="276225"/>
              <a:chExt cx="9001125" cy="196215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AAE5626-5F8F-551F-035D-EDD8E5F4AB4D}"/>
                  </a:ext>
                </a:extLst>
              </p:cNvPr>
              <p:cNvSpPr/>
              <p:nvPr/>
            </p:nvSpPr>
            <p:spPr>
              <a:xfrm rot="5400000">
                <a:off x="1771650" y="1"/>
                <a:ext cx="76200" cy="141922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34E81E2-F78C-C644-EA13-A106E376D61F}"/>
                  </a:ext>
                </a:extLst>
              </p:cNvPr>
              <p:cNvGrpSpPr/>
              <p:nvPr/>
            </p:nvGrpSpPr>
            <p:grpSpPr>
              <a:xfrm>
                <a:off x="990600" y="819150"/>
                <a:ext cx="8696325" cy="1419225"/>
                <a:chOff x="1457325" y="1323975"/>
                <a:chExt cx="8696325" cy="1419225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357FFF1-9DCB-C02E-ABB2-C6A6D59E39D2}"/>
                    </a:ext>
                  </a:extLst>
                </p:cNvPr>
                <p:cNvSpPr txBox="1"/>
                <p:nvPr/>
              </p:nvSpPr>
              <p:spPr>
                <a:xfrm>
                  <a:off x="1590675" y="1409700"/>
                  <a:ext cx="8562975" cy="113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400" dirty="0">
                      <a:solidFill>
                        <a:schemeClr val="bg1"/>
                      </a:solidFill>
                      <a:latin typeface="Monospac821 BT" panose="020B0609020202020204" pitchFamily="49" charset="0"/>
                    </a:rPr>
                    <a:t>Geo-Fencing System </a:t>
                  </a:r>
                </a:p>
                <a:p>
                  <a:r>
                    <a:rPr lang="en-US" sz="24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Monospac821 BT" panose="020B0609020202020204" pitchFamily="49" charset="0"/>
                    </a:rPr>
                    <a:t>for </a:t>
                  </a:r>
                  <a:r>
                    <a:rPr lang="en-US" sz="24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Monospac821 BT" panose="020B0609020202020204" pitchFamily="49" charset="0"/>
                    </a:rPr>
                    <a:t>Cattle Detection </a:t>
                  </a:r>
                  <a:endParaRPr lang="en-IN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Monospac821 BT" panose="020B0609020202020204" pitchFamily="49" charset="0"/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C21E29D-FBD3-69C1-E4B1-1824AE99A9F2}"/>
                    </a:ext>
                  </a:extLst>
                </p:cNvPr>
                <p:cNvSpPr/>
                <p:nvPr/>
              </p:nvSpPr>
              <p:spPr>
                <a:xfrm>
                  <a:off x="1457325" y="1323975"/>
                  <a:ext cx="76200" cy="141922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964242D-7366-A546-5218-20CD9345F234}"/>
                  </a:ext>
                </a:extLst>
              </p:cNvPr>
              <p:cNvSpPr txBox="1"/>
              <p:nvPr/>
            </p:nvSpPr>
            <p:spPr>
              <a:xfrm>
                <a:off x="685800" y="276225"/>
                <a:ext cx="2428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2"/>
                    </a:solidFill>
                    <a:latin typeface="Monospac821 BT" panose="020B0609020202020204" pitchFamily="49" charset="0"/>
                  </a:rPr>
                  <a:t>CSE mini project</a:t>
                </a:r>
                <a:endParaRPr lang="en-IN" dirty="0">
                  <a:solidFill>
                    <a:schemeClr val="tx2"/>
                  </a:solidFill>
                  <a:latin typeface="Monospac821 BT" panose="020B0609020202020204" pitchFamily="49" charset="0"/>
                </a:endParaRP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2CC872A-10A3-4FBA-C4C1-B3DDB7A4A4AC}"/>
                </a:ext>
              </a:extLst>
            </p:cNvPr>
            <p:cNvSpPr/>
            <p:nvPr/>
          </p:nvSpPr>
          <p:spPr>
            <a:xfrm>
              <a:off x="6391275" y="2895600"/>
              <a:ext cx="4219575" cy="2019300"/>
            </a:xfrm>
            <a:prstGeom prst="rect">
              <a:avLst/>
            </a:prstGeom>
            <a:solidFill>
              <a:srgbClr val="121E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dirty="0"/>
                <a:t>Under the Guidance of </a:t>
              </a:r>
              <a:br>
                <a:rPr lang="en-US" dirty="0"/>
              </a:br>
              <a:r>
                <a:rPr lang="en-US" dirty="0"/>
                <a:t>K. </a:t>
              </a:r>
              <a:r>
                <a:rPr lang="en-US" dirty="0" err="1"/>
                <a:t>Shirisha</a:t>
              </a:r>
              <a:endParaRPr lang="en-US" dirty="0"/>
            </a:p>
            <a:p>
              <a:pPr algn="ctr">
                <a:lnSpc>
                  <a:spcPct val="150000"/>
                </a:lnSpc>
              </a:pPr>
              <a:r>
                <a:rPr lang="en-US" sz="1000" dirty="0"/>
                <a:t>Project Mentor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2032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DE8813F-C012-A894-D7A3-18FF40B190A2}"/>
              </a:ext>
            </a:extLst>
          </p:cNvPr>
          <p:cNvGrpSpPr/>
          <p:nvPr/>
        </p:nvGrpSpPr>
        <p:grpSpPr>
          <a:xfrm>
            <a:off x="-1038225" y="-1162048"/>
            <a:ext cx="15230476" cy="9286873"/>
            <a:chOff x="-1038225" y="-1162048"/>
            <a:chExt cx="15230476" cy="928687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D8613C5-17B0-421E-58B3-F6DDA314996C}"/>
                </a:ext>
              </a:extLst>
            </p:cNvPr>
            <p:cNvSpPr/>
            <p:nvPr/>
          </p:nvSpPr>
          <p:spPr>
            <a:xfrm>
              <a:off x="9315451" y="-1162048"/>
              <a:ext cx="4876800" cy="4876800"/>
            </a:xfrm>
            <a:custGeom>
              <a:avLst/>
              <a:gdLst>
                <a:gd name="connsiteX0" fmla="*/ 1833563 w 3743326"/>
                <a:gd name="connsiteY0" fmla="*/ 752475 h 3743326"/>
                <a:gd name="connsiteX1" fmla="*/ 790575 w 3743326"/>
                <a:gd name="connsiteY1" fmla="*/ 1795463 h 3743326"/>
                <a:gd name="connsiteX2" fmla="*/ 1833563 w 3743326"/>
                <a:gd name="connsiteY2" fmla="*/ 2838451 h 3743326"/>
                <a:gd name="connsiteX3" fmla="*/ 2876551 w 3743326"/>
                <a:gd name="connsiteY3" fmla="*/ 1795463 h 3743326"/>
                <a:gd name="connsiteX4" fmla="*/ 1833563 w 3743326"/>
                <a:gd name="connsiteY4" fmla="*/ 752475 h 3743326"/>
                <a:gd name="connsiteX5" fmla="*/ 1871663 w 3743326"/>
                <a:gd name="connsiteY5" fmla="*/ 0 h 3743326"/>
                <a:gd name="connsiteX6" fmla="*/ 3743326 w 3743326"/>
                <a:gd name="connsiteY6" fmla="*/ 1871663 h 3743326"/>
                <a:gd name="connsiteX7" fmla="*/ 1871663 w 3743326"/>
                <a:gd name="connsiteY7" fmla="*/ 3743326 h 3743326"/>
                <a:gd name="connsiteX8" fmla="*/ 0 w 3743326"/>
                <a:gd name="connsiteY8" fmla="*/ 1871663 h 3743326"/>
                <a:gd name="connsiteX9" fmla="*/ 1871663 w 3743326"/>
                <a:gd name="connsiteY9" fmla="*/ 0 h 374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43326" h="3743326">
                  <a:moveTo>
                    <a:pt x="1833563" y="752475"/>
                  </a:moveTo>
                  <a:cubicBezTo>
                    <a:pt x="1257537" y="752475"/>
                    <a:pt x="790575" y="1219437"/>
                    <a:pt x="790575" y="1795463"/>
                  </a:cubicBezTo>
                  <a:cubicBezTo>
                    <a:pt x="790575" y="2371489"/>
                    <a:pt x="1257537" y="2838451"/>
                    <a:pt x="1833563" y="2838451"/>
                  </a:cubicBezTo>
                  <a:cubicBezTo>
                    <a:pt x="2409589" y="2838451"/>
                    <a:pt x="2876551" y="2371489"/>
                    <a:pt x="2876551" y="1795463"/>
                  </a:cubicBezTo>
                  <a:cubicBezTo>
                    <a:pt x="2876551" y="1219437"/>
                    <a:pt x="2409589" y="752475"/>
                    <a:pt x="1833563" y="752475"/>
                  </a:cubicBezTo>
                  <a:close/>
                  <a:moveTo>
                    <a:pt x="1871663" y="0"/>
                  </a:moveTo>
                  <a:cubicBezTo>
                    <a:pt x="2905354" y="0"/>
                    <a:pt x="3743326" y="837972"/>
                    <a:pt x="3743326" y="1871663"/>
                  </a:cubicBezTo>
                  <a:cubicBezTo>
                    <a:pt x="3743326" y="2905354"/>
                    <a:pt x="2905354" y="3743326"/>
                    <a:pt x="1871663" y="3743326"/>
                  </a:cubicBezTo>
                  <a:cubicBezTo>
                    <a:pt x="837972" y="3743326"/>
                    <a:pt x="0" y="2905354"/>
                    <a:pt x="0" y="1871663"/>
                  </a:cubicBezTo>
                  <a:cubicBezTo>
                    <a:pt x="0" y="837972"/>
                    <a:pt x="837972" y="0"/>
                    <a:pt x="1871663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solidFill>
                <a:srgbClr val="131F3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400364-86B7-AAEA-7F75-7ECD5CF3F36D}"/>
                </a:ext>
              </a:extLst>
            </p:cNvPr>
            <p:cNvSpPr/>
            <p:nvPr/>
          </p:nvSpPr>
          <p:spPr>
            <a:xfrm>
              <a:off x="-1038225" y="5267325"/>
              <a:ext cx="2857500" cy="2857500"/>
            </a:xfrm>
            <a:prstGeom prst="ellipse">
              <a:avLst/>
            </a:prstGeom>
            <a:solidFill>
              <a:srgbClr val="121E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4FCE8E-DC62-A1BB-7884-664CD48082B0}"/>
              </a:ext>
            </a:extLst>
          </p:cNvPr>
          <p:cNvGrpSpPr/>
          <p:nvPr/>
        </p:nvGrpSpPr>
        <p:grpSpPr>
          <a:xfrm>
            <a:off x="666750" y="1057276"/>
            <a:ext cx="3381375" cy="4591050"/>
            <a:chOff x="666750" y="1057276"/>
            <a:chExt cx="3381375" cy="459105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E2B194-99E3-49E3-328C-34B8ABA711DF}"/>
                </a:ext>
              </a:extLst>
            </p:cNvPr>
            <p:cNvSpPr/>
            <p:nvPr/>
          </p:nvSpPr>
          <p:spPr>
            <a:xfrm>
              <a:off x="666750" y="1057276"/>
              <a:ext cx="3381375" cy="4591050"/>
            </a:xfrm>
            <a:prstGeom prst="rect">
              <a:avLst/>
            </a:prstGeom>
            <a:solidFill>
              <a:srgbClr val="121E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b="0" i="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Addressing the mobility challenges of the visually impaired through advanced IoT and Geo-fencing technologies</a:t>
              </a:r>
              <a:r>
                <a:rPr lang="en-US" b="0" i="0" dirty="0">
                  <a:solidFill>
                    <a:schemeClr val="bg1"/>
                  </a:solidFill>
                  <a:effectLst/>
                  <a:latin typeface="Poppins" panose="00000500000000000000" pitchFamily="2" charset="0"/>
                </a:rPr>
                <a:t>.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0B174AC-1264-1A77-F992-90B7ACB93E85}"/>
                </a:ext>
              </a:extLst>
            </p:cNvPr>
            <p:cNvSpPr txBox="1"/>
            <p:nvPr/>
          </p:nvSpPr>
          <p:spPr>
            <a:xfrm>
              <a:off x="1171575" y="1200150"/>
              <a:ext cx="2466975" cy="646331"/>
            </a:xfrm>
            <a:prstGeom prst="rect">
              <a:avLst/>
            </a:prstGeom>
            <a:solidFill>
              <a:srgbClr val="121E3E"/>
            </a:solidFill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FFFF"/>
                  </a:solidFill>
                  <a:latin typeface="Monospac821 BT" panose="020B0609020202020204" pitchFamily="49" charset="0"/>
                </a:rPr>
                <a:t>Abstract</a:t>
              </a:r>
              <a:endParaRPr lang="en-IN" sz="3600" dirty="0">
                <a:solidFill>
                  <a:srgbClr val="FFFFFF"/>
                </a:solidFill>
                <a:latin typeface="Monospac821 BT" panose="020B0609020202020204" pitchFamily="49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E0D108B-04B0-A209-736C-563CB3639B59}"/>
                </a:ext>
              </a:extLst>
            </p:cNvPr>
            <p:cNvSpPr/>
            <p:nvPr/>
          </p:nvSpPr>
          <p:spPr>
            <a:xfrm>
              <a:off x="1190625" y="1809750"/>
              <a:ext cx="2381250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B90B881-8C72-E45A-CD1B-3ED54763923B}"/>
              </a:ext>
            </a:extLst>
          </p:cNvPr>
          <p:cNvSpPr/>
          <p:nvPr/>
        </p:nvSpPr>
        <p:spPr>
          <a:xfrm>
            <a:off x="4391025" y="1057275"/>
            <a:ext cx="7553325" cy="4562475"/>
          </a:xfrm>
          <a:prstGeom prst="rect">
            <a:avLst/>
          </a:prstGeom>
          <a:solidFill>
            <a:srgbClr val="121E3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2E8F0"/>
                </a:solidFill>
                <a:effectLst/>
                <a:latin typeface="Poppins" panose="00000500000000000000" pitchFamily="2" charset="0"/>
              </a:rPr>
              <a:t>Visually impaired persons face difficulty in </a:t>
            </a:r>
            <a:r>
              <a:rPr lang="en-US" b="0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safe navigation</a:t>
            </a:r>
            <a:endParaRPr lang="en-US" b="0" i="0" dirty="0">
              <a:solidFill>
                <a:srgbClr val="E2E8F0"/>
              </a:solidFill>
              <a:effectLst/>
              <a:latin typeface="Poppins" panose="00000500000000000000" pitchFamily="2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2E8F0"/>
                </a:solidFill>
                <a:effectLst/>
                <a:latin typeface="Poppins" panose="00000500000000000000" pitchFamily="2" charset="0"/>
              </a:rPr>
              <a:t>Dependence on others reduces </a:t>
            </a:r>
            <a:r>
              <a:rPr lang="en-US" b="0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independence</a:t>
            </a:r>
            <a:endParaRPr lang="en-US" b="0" i="0" dirty="0">
              <a:solidFill>
                <a:srgbClr val="E2E8F0"/>
              </a:solidFill>
              <a:effectLst/>
              <a:latin typeface="Poppins" panose="00000500000000000000" pitchFamily="2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2E8F0"/>
                </a:solidFill>
                <a:effectLst/>
                <a:latin typeface="Poppins" panose="00000500000000000000" pitchFamily="2" charset="0"/>
              </a:rPr>
              <a:t>This project proposes an </a:t>
            </a:r>
            <a:r>
              <a:rPr lang="en-US" b="0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IoT-based geo-fencing system</a:t>
            </a:r>
            <a:endParaRPr lang="en-US" b="0" i="0" dirty="0">
              <a:solidFill>
                <a:srgbClr val="E2E8F0"/>
              </a:solidFill>
              <a:effectLst/>
              <a:latin typeface="Poppins" panose="00000500000000000000" pitchFamily="2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2E8F0"/>
                </a:solidFill>
                <a:effectLst/>
                <a:latin typeface="Poppins" panose="00000500000000000000" pitchFamily="2" charset="0"/>
              </a:rPr>
              <a:t>Uses </a:t>
            </a:r>
            <a:r>
              <a:rPr lang="en-US" b="0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GPS and microcontroller</a:t>
            </a:r>
            <a:r>
              <a:rPr lang="en-US" b="0" i="0" dirty="0">
                <a:solidFill>
                  <a:srgbClr val="E2E8F0"/>
                </a:solidFill>
                <a:effectLst/>
                <a:latin typeface="Poppins" panose="00000500000000000000" pitchFamily="2" charset="0"/>
              </a:rPr>
              <a:t> for real-time tracking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2E8F0"/>
                </a:solidFill>
                <a:effectLst/>
                <a:latin typeface="Poppins" panose="00000500000000000000" pitchFamily="2" charset="0"/>
              </a:rPr>
              <a:t>Provides </a:t>
            </a:r>
            <a:r>
              <a:rPr lang="en-US" b="0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audio and vibration alerts</a:t>
            </a:r>
            <a:endParaRPr lang="en-US" b="0" i="0" dirty="0">
              <a:solidFill>
                <a:srgbClr val="E2E8F0"/>
              </a:solidFill>
              <a:effectLst/>
              <a:latin typeface="Poppins" panose="00000500000000000000" pitchFamily="2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2E8F0"/>
                </a:solidFill>
                <a:effectLst/>
                <a:latin typeface="Poppins" panose="00000500000000000000" pitchFamily="2" charset="0"/>
              </a:rPr>
              <a:t>Improves </a:t>
            </a:r>
            <a:r>
              <a:rPr lang="en-US" b="0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safety and independent mobility</a:t>
            </a:r>
            <a:endParaRPr lang="en-US" b="0" i="0" dirty="0">
              <a:solidFill>
                <a:srgbClr val="E2E8F0"/>
              </a:solidFill>
              <a:effectLst/>
              <a:latin typeface="Poppins" panose="00000500000000000000" pitchFamily="2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8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DE8813F-C012-A894-D7A3-18FF40B190A2}"/>
              </a:ext>
            </a:extLst>
          </p:cNvPr>
          <p:cNvGrpSpPr/>
          <p:nvPr/>
        </p:nvGrpSpPr>
        <p:grpSpPr>
          <a:xfrm>
            <a:off x="-1038225" y="-1162048"/>
            <a:ext cx="15230476" cy="9286873"/>
            <a:chOff x="-1038225" y="-1162048"/>
            <a:chExt cx="15230476" cy="928687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D8613C5-17B0-421E-58B3-F6DDA314996C}"/>
                </a:ext>
              </a:extLst>
            </p:cNvPr>
            <p:cNvSpPr/>
            <p:nvPr/>
          </p:nvSpPr>
          <p:spPr>
            <a:xfrm>
              <a:off x="9315451" y="-1162048"/>
              <a:ext cx="4876800" cy="4876800"/>
            </a:xfrm>
            <a:custGeom>
              <a:avLst/>
              <a:gdLst>
                <a:gd name="connsiteX0" fmla="*/ 1833563 w 3743326"/>
                <a:gd name="connsiteY0" fmla="*/ 752475 h 3743326"/>
                <a:gd name="connsiteX1" fmla="*/ 790575 w 3743326"/>
                <a:gd name="connsiteY1" fmla="*/ 1795463 h 3743326"/>
                <a:gd name="connsiteX2" fmla="*/ 1833563 w 3743326"/>
                <a:gd name="connsiteY2" fmla="*/ 2838451 h 3743326"/>
                <a:gd name="connsiteX3" fmla="*/ 2876551 w 3743326"/>
                <a:gd name="connsiteY3" fmla="*/ 1795463 h 3743326"/>
                <a:gd name="connsiteX4" fmla="*/ 1833563 w 3743326"/>
                <a:gd name="connsiteY4" fmla="*/ 752475 h 3743326"/>
                <a:gd name="connsiteX5" fmla="*/ 1871663 w 3743326"/>
                <a:gd name="connsiteY5" fmla="*/ 0 h 3743326"/>
                <a:gd name="connsiteX6" fmla="*/ 3743326 w 3743326"/>
                <a:gd name="connsiteY6" fmla="*/ 1871663 h 3743326"/>
                <a:gd name="connsiteX7" fmla="*/ 1871663 w 3743326"/>
                <a:gd name="connsiteY7" fmla="*/ 3743326 h 3743326"/>
                <a:gd name="connsiteX8" fmla="*/ 0 w 3743326"/>
                <a:gd name="connsiteY8" fmla="*/ 1871663 h 3743326"/>
                <a:gd name="connsiteX9" fmla="*/ 1871663 w 3743326"/>
                <a:gd name="connsiteY9" fmla="*/ 0 h 374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43326" h="3743326">
                  <a:moveTo>
                    <a:pt x="1833563" y="752475"/>
                  </a:moveTo>
                  <a:cubicBezTo>
                    <a:pt x="1257537" y="752475"/>
                    <a:pt x="790575" y="1219437"/>
                    <a:pt x="790575" y="1795463"/>
                  </a:cubicBezTo>
                  <a:cubicBezTo>
                    <a:pt x="790575" y="2371489"/>
                    <a:pt x="1257537" y="2838451"/>
                    <a:pt x="1833563" y="2838451"/>
                  </a:cubicBezTo>
                  <a:cubicBezTo>
                    <a:pt x="2409589" y="2838451"/>
                    <a:pt x="2876551" y="2371489"/>
                    <a:pt x="2876551" y="1795463"/>
                  </a:cubicBezTo>
                  <a:cubicBezTo>
                    <a:pt x="2876551" y="1219437"/>
                    <a:pt x="2409589" y="752475"/>
                    <a:pt x="1833563" y="752475"/>
                  </a:cubicBezTo>
                  <a:close/>
                  <a:moveTo>
                    <a:pt x="1871663" y="0"/>
                  </a:moveTo>
                  <a:cubicBezTo>
                    <a:pt x="2905354" y="0"/>
                    <a:pt x="3743326" y="837972"/>
                    <a:pt x="3743326" y="1871663"/>
                  </a:cubicBezTo>
                  <a:cubicBezTo>
                    <a:pt x="3743326" y="2905354"/>
                    <a:pt x="2905354" y="3743326"/>
                    <a:pt x="1871663" y="3743326"/>
                  </a:cubicBezTo>
                  <a:cubicBezTo>
                    <a:pt x="837972" y="3743326"/>
                    <a:pt x="0" y="2905354"/>
                    <a:pt x="0" y="1871663"/>
                  </a:cubicBezTo>
                  <a:cubicBezTo>
                    <a:pt x="0" y="837972"/>
                    <a:pt x="837972" y="0"/>
                    <a:pt x="1871663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solidFill>
                <a:srgbClr val="131F3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400364-86B7-AAEA-7F75-7ECD5CF3F36D}"/>
                </a:ext>
              </a:extLst>
            </p:cNvPr>
            <p:cNvSpPr/>
            <p:nvPr/>
          </p:nvSpPr>
          <p:spPr>
            <a:xfrm>
              <a:off x="-1038225" y="5267325"/>
              <a:ext cx="2857500" cy="2857500"/>
            </a:xfrm>
            <a:prstGeom prst="ellipse">
              <a:avLst/>
            </a:prstGeom>
            <a:solidFill>
              <a:srgbClr val="121E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8665A7C-1B60-35F2-DD81-206C76ED0F71}"/>
              </a:ext>
            </a:extLst>
          </p:cNvPr>
          <p:cNvSpPr/>
          <p:nvPr/>
        </p:nvSpPr>
        <p:spPr>
          <a:xfrm>
            <a:off x="4391025" y="1057275"/>
            <a:ext cx="7553325" cy="4562475"/>
          </a:xfrm>
          <a:prstGeom prst="rect">
            <a:avLst/>
          </a:prstGeom>
          <a:solidFill>
            <a:srgbClr val="121E3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Use of general navigation applications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Mostly visual-based interfaces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Not designed specifically for visually impaired users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No geo-fencing based safety alerts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No real-time danger zone warnings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High dependency on manual assistance</a:t>
            </a:r>
          </a:p>
          <a:p>
            <a:pPr algn="ctr"/>
            <a:endParaRPr lang="en-I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E653B74-068C-5402-AECE-5A6CC399EC9A}"/>
              </a:ext>
            </a:extLst>
          </p:cNvPr>
          <p:cNvGrpSpPr/>
          <p:nvPr/>
        </p:nvGrpSpPr>
        <p:grpSpPr>
          <a:xfrm>
            <a:off x="704850" y="1038226"/>
            <a:ext cx="3381375" cy="4591050"/>
            <a:chOff x="666750" y="1057276"/>
            <a:chExt cx="3381375" cy="459105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D21189-B6A3-CBF9-FE55-8E837DB2A092}"/>
                </a:ext>
              </a:extLst>
            </p:cNvPr>
            <p:cNvSpPr/>
            <p:nvPr/>
          </p:nvSpPr>
          <p:spPr>
            <a:xfrm>
              <a:off x="666750" y="1057276"/>
              <a:ext cx="3381375" cy="4591050"/>
            </a:xfrm>
            <a:prstGeom prst="rect">
              <a:avLst/>
            </a:prstGeom>
            <a:solidFill>
              <a:srgbClr val="121E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Current navigation methods used by visually impaired persons.</a:t>
              </a:r>
              <a:endParaRPr lang="en-US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60116D-3992-0F37-C7CB-533096656DC1}"/>
                </a:ext>
              </a:extLst>
            </p:cNvPr>
            <p:cNvSpPr txBox="1"/>
            <p:nvPr/>
          </p:nvSpPr>
          <p:spPr>
            <a:xfrm>
              <a:off x="1171575" y="1200150"/>
              <a:ext cx="2466975" cy="1200329"/>
            </a:xfrm>
            <a:prstGeom prst="rect">
              <a:avLst/>
            </a:prstGeom>
            <a:solidFill>
              <a:srgbClr val="121E3E"/>
            </a:solidFill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FFFF"/>
                  </a:solidFill>
                  <a:latin typeface="Monospac821 BT" panose="020B0609020202020204" pitchFamily="49" charset="0"/>
                </a:rPr>
                <a:t>Existing System</a:t>
              </a:r>
              <a:endParaRPr lang="en-IN" sz="3600" dirty="0">
                <a:solidFill>
                  <a:srgbClr val="FFFFFF"/>
                </a:solidFill>
                <a:latin typeface="Monospac821 BT" panose="020B0609020202020204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088F35-C17E-2334-3689-7B6B6D3E1FAE}"/>
                </a:ext>
              </a:extLst>
            </p:cNvPr>
            <p:cNvSpPr/>
            <p:nvPr/>
          </p:nvSpPr>
          <p:spPr>
            <a:xfrm>
              <a:off x="1162050" y="2371725"/>
              <a:ext cx="2381250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6117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DE8813F-C012-A894-D7A3-18FF40B190A2}"/>
              </a:ext>
            </a:extLst>
          </p:cNvPr>
          <p:cNvGrpSpPr/>
          <p:nvPr/>
        </p:nvGrpSpPr>
        <p:grpSpPr>
          <a:xfrm>
            <a:off x="-1038225" y="-1162048"/>
            <a:ext cx="15230476" cy="9286873"/>
            <a:chOff x="-1038225" y="-1162048"/>
            <a:chExt cx="15230476" cy="928687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D8613C5-17B0-421E-58B3-F6DDA314996C}"/>
                </a:ext>
              </a:extLst>
            </p:cNvPr>
            <p:cNvSpPr/>
            <p:nvPr/>
          </p:nvSpPr>
          <p:spPr>
            <a:xfrm>
              <a:off x="9315451" y="-1162048"/>
              <a:ext cx="4876800" cy="4876800"/>
            </a:xfrm>
            <a:custGeom>
              <a:avLst/>
              <a:gdLst>
                <a:gd name="connsiteX0" fmla="*/ 1833563 w 3743326"/>
                <a:gd name="connsiteY0" fmla="*/ 752475 h 3743326"/>
                <a:gd name="connsiteX1" fmla="*/ 790575 w 3743326"/>
                <a:gd name="connsiteY1" fmla="*/ 1795463 h 3743326"/>
                <a:gd name="connsiteX2" fmla="*/ 1833563 w 3743326"/>
                <a:gd name="connsiteY2" fmla="*/ 2838451 h 3743326"/>
                <a:gd name="connsiteX3" fmla="*/ 2876551 w 3743326"/>
                <a:gd name="connsiteY3" fmla="*/ 1795463 h 3743326"/>
                <a:gd name="connsiteX4" fmla="*/ 1833563 w 3743326"/>
                <a:gd name="connsiteY4" fmla="*/ 752475 h 3743326"/>
                <a:gd name="connsiteX5" fmla="*/ 1871663 w 3743326"/>
                <a:gd name="connsiteY5" fmla="*/ 0 h 3743326"/>
                <a:gd name="connsiteX6" fmla="*/ 3743326 w 3743326"/>
                <a:gd name="connsiteY6" fmla="*/ 1871663 h 3743326"/>
                <a:gd name="connsiteX7" fmla="*/ 1871663 w 3743326"/>
                <a:gd name="connsiteY7" fmla="*/ 3743326 h 3743326"/>
                <a:gd name="connsiteX8" fmla="*/ 0 w 3743326"/>
                <a:gd name="connsiteY8" fmla="*/ 1871663 h 3743326"/>
                <a:gd name="connsiteX9" fmla="*/ 1871663 w 3743326"/>
                <a:gd name="connsiteY9" fmla="*/ 0 h 374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43326" h="3743326">
                  <a:moveTo>
                    <a:pt x="1833563" y="752475"/>
                  </a:moveTo>
                  <a:cubicBezTo>
                    <a:pt x="1257537" y="752475"/>
                    <a:pt x="790575" y="1219437"/>
                    <a:pt x="790575" y="1795463"/>
                  </a:cubicBezTo>
                  <a:cubicBezTo>
                    <a:pt x="790575" y="2371489"/>
                    <a:pt x="1257537" y="2838451"/>
                    <a:pt x="1833563" y="2838451"/>
                  </a:cubicBezTo>
                  <a:cubicBezTo>
                    <a:pt x="2409589" y="2838451"/>
                    <a:pt x="2876551" y="2371489"/>
                    <a:pt x="2876551" y="1795463"/>
                  </a:cubicBezTo>
                  <a:cubicBezTo>
                    <a:pt x="2876551" y="1219437"/>
                    <a:pt x="2409589" y="752475"/>
                    <a:pt x="1833563" y="752475"/>
                  </a:cubicBezTo>
                  <a:close/>
                  <a:moveTo>
                    <a:pt x="1871663" y="0"/>
                  </a:moveTo>
                  <a:cubicBezTo>
                    <a:pt x="2905354" y="0"/>
                    <a:pt x="3743326" y="837972"/>
                    <a:pt x="3743326" y="1871663"/>
                  </a:cubicBezTo>
                  <a:cubicBezTo>
                    <a:pt x="3743326" y="2905354"/>
                    <a:pt x="2905354" y="3743326"/>
                    <a:pt x="1871663" y="3743326"/>
                  </a:cubicBezTo>
                  <a:cubicBezTo>
                    <a:pt x="837972" y="3743326"/>
                    <a:pt x="0" y="2905354"/>
                    <a:pt x="0" y="1871663"/>
                  </a:cubicBezTo>
                  <a:cubicBezTo>
                    <a:pt x="0" y="837972"/>
                    <a:pt x="837972" y="0"/>
                    <a:pt x="1871663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solidFill>
                <a:srgbClr val="131F3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400364-86B7-AAEA-7F75-7ECD5CF3F36D}"/>
                </a:ext>
              </a:extLst>
            </p:cNvPr>
            <p:cNvSpPr/>
            <p:nvPr/>
          </p:nvSpPr>
          <p:spPr>
            <a:xfrm>
              <a:off x="-1038225" y="5267325"/>
              <a:ext cx="2857500" cy="2857500"/>
            </a:xfrm>
            <a:prstGeom prst="ellipse">
              <a:avLst/>
            </a:prstGeom>
            <a:solidFill>
              <a:srgbClr val="121E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ADA35CA-4FBF-A7A8-6886-D259F1AF6C54}"/>
              </a:ext>
            </a:extLst>
          </p:cNvPr>
          <p:cNvGrpSpPr/>
          <p:nvPr/>
        </p:nvGrpSpPr>
        <p:grpSpPr>
          <a:xfrm>
            <a:off x="704850" y="1038226"/>
            <a:ext cx="3381375" cy="4591050"/>
            <a:chOff x="666750" y="1057276"/>
            <a:chExt cx="3381375" cy="45910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0E743F7-151A-0F2B-AC46-AE415B75049C}"/>
                </a:ext>
              </a:extLst>
            </p:cNvPr>
            <p:cNvSpPr/>
            <p:nvPr/>
          </p:nvSpPr>
          <p:spPr>
            <a:xfrm>
              <a:off x="666750" y="1057276"/>
              <a:ext cx="3381375" cy="4591050"/>
            </a:xfrm>
            <a:prstGeom prst="rect">
              <a:avLst/>
            </a:prstGeom>
            <a:solidFill>
              <a:srgbClr val="121E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dirty="0"/>
                <a:t>Software-based geo-fencing solution for enhanced safety.</a:t>
              </a:r>
              <a:endParaRPr lang="en-US" b="0" i="0" dirty="0">
                <a:solidFill>
                  <a:srgbClr val="CBD5E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76D1EF-6714-4E48-27FF-337548C6BFA1}"/>
                </a:ext>
              </a:extLst>
            </p:cNvPr>
            <p:cNvSpPr txBox="1"/>
            <p:nvPr/>
          </p:nvSpPr>
          <p:spPr>
            <a:xfrm>
              <a:off x="1171575" y="1200150"/>
              <a:ext cx="2466975" cy="1200329"/>
            </a:xfrm>
            <a:prstGeom prst="rect">
              <a:avLst/>
            </a:prstGeom>
            <a:solidFill>
              <a:srgbClr val="121E3E"/>
            </a:solidFill>
          </p:spPr>
          <p:txBody>
            <a:bodyPr wrap="square" rtlCol="0">
              <a:spAutoFit/>
            </a:bodyPr>
            <a:lstStyle/>
            <a:p>
              <a:r>
                <a:rPr lang="en-US" sz="3600" dirty="0" err="1">
                  <a:solidFill>
                    <a:srgbClr val="FFFFFF"/>
                  </a:solidFill>
                  <a:latin typeface="Monospac821 BT" panose="020B0609020202020204" pitchFamily="49" charset="0"/>
                </a:rPr>
                <a:t>ProposedSystem</a:t>
              </a:r>
              <a:endParaRPr lang="en-IN" sz="3600" dirty="0">
                <a:solidFill>
                  <a:srgbClr val="FFFFFF"/>
                </a:solidFill>
                <a:latin typeface="Monospac821 BT" panose="020B06090202020202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76B69E-77CA-104E-3116-5A2AB5ED9B96}"/>
                </a:ext>
              </a:extLst>
            </p:cNvPr>
            <p:cNvSpPr/>
            <p:nvPr/>
          </p:nvSpPr>
          <p:spPr>
            <a:xfrm>
              <a:off x="1162050" y="2371725"/>
              <a:ext cx="2381250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9E147E7-BB09-CA40-3A08-26C505B407EC}"/>
              </a:ext>
            </a:extLst>
          </p:cNvPr>
          <p:cNvSpPr/>
          <p:nvPr/>
        </p:nvSpPr>
        <p:spPr>
          <a:xfrm>
            <a:off x="4428348" y="1066606"/>
            <a:ext cx="7553325" cy="4562475"/>
          </a:xfrm>
          <a:prstGeom prst="rect">
            <a:avLst/>
          </a:prstGeom>
          <a:solidFill>
            <a:srgbClr val="121E3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IoT-based portable safety system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ESP32 microcontroller for system control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Neo-6M GPS module for real-time tracking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Predefined safe and danger zones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Continuous location monitoring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Audio and vibration alerts on boundary crossing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Caretaker alert support from the Flutter Based App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47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DE8813F-C012-A894-D7A3-18FF40B190A2}"/>
              </a:ext>
            </a:extLst>
          </p:cNvPr>
          <p:cNvGrpSpPr/>
          <p:nvPr/>
        </p:nvGrpSpPr>
        <p:grpSpPr>
          <a:xfrm>
            <a:off x="-1038225" y="-1162048"/>
            <a:ext cx="15230476" cy="9286873"/>
            <a:chOff x="-1038225" y="-1162048"/>
            <a:chExt cx="15230476" cy="928687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D8613C5-17B0-421E-58B3-F6DDA314996C}"/>
                </a:ext>
              </a:extLst>
            </p:cNvPr>
            <p:cNvSpPr/>
            <p:nvPr/>
          </p:nvSpPr>
          <p:spPr>
            <a:xfrm>
              <a:off x="9315451" y="-1162048"/>
              <a:ext cx="4876800" cy="4876800"/>
            </a:xfrm>
            <a:custGeom>
              <a:avLst/>
              <a:gdLst>
                <a:gd name="connsiteX0" fmla="*/ 1833563 w 3743326"/>
                <a:gd name="connsiteY0" fmla="*/ 752475 h 3743326"/>
                <a:gd name="connsiteX1" fmla="*/ 790575 w 3743326"/>
                <a:gd name="connsiteY1" fmla="*/ 1795463 h 3743326"/>
                <a:gd name="connsiteX2" fmla="*/ 1833563 w 3743326"/>
                <a:gd name="connsiteY2" fmla="*/ 2838451 h 3743326"/>
                <a:gd name="connsiteX3" fmla="*/ 2876551 w 3743326"/>
                <a:gd name="connsiteY3" fmla="*/ 1795463 h 3743326"/>
                <a:gd name="connsiteX4" fmla="*/ 1833563 w 3743326"/>
                <a:gd name="connsiteY4" fmla="*/ 752475 h 3743326"/>
                <a:gd name="connsiteX5" fmla="*/ 1871663 w 3743326"/>
                <a:gd name="connsiteY5" fmla="*/ 0 h 3743326"/>
                <a:gd name="connsiteX6" fmla="*/ 3743326 w 3743326"/>
                <a:gd name="connsiteY6" fmla="*/ 1871663 h 3743326"/>
                <a:gd name="connsiteX7" fmla="*/ 1871663 w 3743326"/>
                <a:gd name="connsiteY7" fmla="*/ 3743326 h 3743326"/>
                <a:gd name="connsiteX8" fmla="*/ 0 w 3743326"/>
                <a:gd name="connsiteY8" fmla="*/ 1871663 h 3743326"/>
                <a:gd name="connsiteX9" fmla="*/ 1871663 w 3743326"/>
                <a:gd name="connsiteY9" fmla="*/ 0 h 374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43326" h="3743326">
                  <a:moveTo>
                    <a:pt x="1833563" y="752475"/>
                  </a:moveTo>
                  <a:cubicBezTo>
                    <a:pt x="1257537" y="752475"/>
                    <a:pt x="790575" y="1219437"/>
                    <a:pt x="790575" y="1795463"/>
                  </a:cubicBezTo>
                  <a:cubicBezTo>
                    <a:pt x="790575" y="2371489"/>
                    <a:pt x="1257537" y="2838451"/>
                    <a:pt x="1833563" y="2838451"/>
                  </a:cubicBezTo>
                  <a:cubicBezTo>
                    <a:pt x="2409589" y="2838451"/>
                    <a:pt x="2876551" y="2371489"/>
                    <a:pt x="2876551" y="1795463"/>
                  </a:cubicBezTo>
                  <a:cubicBezTo>
                    <a:pt x="2876551" y="1219437"/>
                    <a:pt x="2409589" y="752475"/>
                    <a:pt x="1833563" y="752475"/>
                  </a:cubicBezTo>
                  <a:close/>
                  <a:moveTo>
                    <a:pt x="1871663" y="0"/>
                  </a:moveTo>
                  <a:cubicBezTo>
                    <a:pt x="2905354" y="0"/>
                    <a:pt x="3743326" y="837972"/>
                    <a:pt x="3743326" y="1871663"/>
                  </a:cubicBezTo>
                  <a:cubicBezTo>
                    <a:pt x="3743326" y="2905354"/>
                    <a:pt x="2905354" y="3743326"/>
                    <a:pt x="1871663" y="3743326"/>
                  </a:cubicBezTo>
                  <a:cubicBezTo>
                    <a:pt x="837972" y="3743326"/>
                    <a:pt x="0" y="2905354"/>
                    <a:pt x="0" y="1871663"/>
                  </a:cubicBezTo>
                  <a:cubicBezTo>
                    <a:pt x="0" y="837972"/>
                    <a:pt x="837972" y="0"/>
                    <a:pt x="1871663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solidFill>
                <a:srgbClr val="131F3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400364-86B7-AAEA-7F75-7ECD5CF3F36D}"/>
                </a:ext>
              </a:extLst>
            </p:cNvPr>
            <p:cNvSpPr/>
            <p:nvPr/>
          </p:nvSpPr>
          <p:spPr>
            <a:xfrm>
              <a:off x="-1038225" y="5267325"/>
              <a:ext cx="2857500" cy="2857500"/>
            </a:xfrm>
            <a:prstGeom prst="ellipse">
              <a:avLst/>
            </a:prstGeom>
            <a:solidFill>
              <a:srgbClr val="121E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83ABC53-FD89-377E-9946-9E997958ED17}"/>
              </a:ext>
            </a:extLst>
          </p:cNvPr>
          <p:cNvGrpSpPr/>
          <p:nvPr/>
        </p:nvGrpSpPr>
        <p:grpSpPr>
          <a:xfrm>
            <a:off x="704850" y="1075549"/>
            <a:ext cx="3381375" cy="4591050"/>
            <a:chOff x="666750" y="1057276"/>
            <a:chExt cx="3381375" cy="45910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07FA75-790D-ED7B-5009-AA52951EFB12}"/>
                </a:ext>
              </a:extLst>
            </p:cNvPr>
            <p:cNvSpPr/>
            <p:nvPr/>
          </p:nvSpPr>
          <p:spPr>
            <a:xfrm>
              <a:off x="666750" y="1057276"/>
              <a:ext cx="3381375" cy="4591050"/>
            </a:xfrm>
            <a:prstGeom prst="rect">
              <a:avLst/>
            </a:prstGeom>
            <a:solidFill>
              <a:srgbClr val="121E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dirty="0"/>
                <a:t>Goals of the proposed </a:t>
              </a:r>
            </a:p>
            <a:p>
              <a:pPr algn="ctr">
                <a:lnSpc>
                  <a:spcPct val="150000"/>
                </a:lnSpc>
              </a:pPr>
              <a:r>
                <a:rPr lang="en-US" dirty="0"/>
                <a:t>geo-fencing system.</a:t>
              </a:r>
              <a:endParaRPr lang="en-US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2AAA83-BE22-802A-2F85-097ECDB66943}"/>
                </a:ext>
              </a:extLst>
            </p:cNvPr>
            <p:cNvSpPr txBox="1"/>
            <p:nvPr/>
          </p:nvSpPr>
          <p:spPr>
            <a:xfrm>
              <a:off x="922954" y="1209481"/>
              <a:ext cx="2976854" cy="646331"/>
            </a:xfrm>
            <a:prstGeom prst="rect">
              <a:avLst/>
            </a:prstGeom>
            <a:solidFill>
              <a:srgbClr val="121E3E"/>
            </a:solidFill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FFFF"/>
                  </a:solidFill>
                  <a:latin typeface="Monospac821 BT" panose="020B0609020202020204" pitchFamily="49" charset="0"/>
                </a:rPr>
                <a:t>Objectives</a:t>
              </a:r>
              <a:endParaRPr lang="en-IN" sz="3600" dirty="0">
                <a:solidFill>
                  <a:srgbClr val="FFFFFF"/>
                </a:solidFill>
                <a:latin typeface="Monospac821 BT" panose="020B06090202020202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224177-21D1-FA36-D8AA-F616A9978358}"/>
                </a:ext>
              </a:extLst>
            </p:cNvPr>
            <p:cNvSpPr/>
            <p:nvPr/>
          </p:nvSpPr>
          <p:spPr>
            <a:xfrm>
              <a:off x="1106065" y="1942518"/>
              <a:ext cx="2381250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91C5CBD-7FFC-CE6C-65CB-32F0F6ADA3BF}"/>
              </a:ext>
            </a:extLst>
          </p:cNvPr>
          <p:cNvSpPr/>
          <p:nvPr/>
        </p:nvSpPr>
        <p:spPr>
          <a:xfrm>
            <a:off x="4428348" y="1066606"/>
            <a:ext cx="7553325" cy="4562475"/>
          </a:xfrm>
          <a:prstGeom prst="rect">
            <a:avLst/>
          </a:prstGeom>
          <a:solidFill>
            <a:srgbClr val="121E3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Improve safety of visually impaired persons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Enable independent mobility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Provide real-time location alerts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Reduce dependency on others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Ensure reliable monitoring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Develop a low-cost solution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Develop an App for the care Taker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237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DE8813F-C012-A894-D7A3-18FF40B190A2}"/>
              </a:ext>
            </a:extLst>
          </p:cNvPr>
          <p:cNvGrpSpPr/>
          <p:nvPr/>
        </p:nvGrpSpPr>
        <p:grpSpPr>
          <a:xfrm>
            <a:off x="-1038225" y="-1162048"/>
            <a:ext cx="15230476" cy="9286873"/>
            <a:chOff x="-1038225" y="-1162048"/>
            <a:chExt cx="15230476" cy="928687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D8613C5-17B0-421E-58B3-F6DDA314996C}"/>
                </a:ext>
              </a:extLst>
            </p:cNvPr>
            <p:cNvSpPr/>
            <p:nvPr/>
          </p:nvSpPr>
          <p:spPr>
            <a:xfrm>
              <a:off x="9315451" y="-1162048"/>
              <a:ext cx="4876800" cy="4876800"/>
            </a:xfrm>
            <a:custGeom>
              <a:avLst/>
              <a:gdLst>
                <a:gd name="connsiteX0" fmla="*/ 1833563 w 3743326"/>
                <a:gd name="connsiteY0" fmla="*/ 752475 h 3743326"/>
                <a:gd name="connsiteX1" fmla="*/ 790575 w 3743326"/>
                <a:gd name="connsiteY1" fmla="*/ 1795463 h 3743326"/>
                <a:gd name="connsiteX2" fmla="*/ 1833563 w 3743326"/>
                <a:gd name="connsiteY2" fmla="*/ 2838451 h 3743326"/>
                <a:gd name="connsiteX3" fmla="*/ 2876551 w 3743326"/>
                <a:gd name="connsiteY3" fmla="*/ 1795463 h 3743326"/>
                <a:gd name="connsiteX4" fmla="*/ 1833563 w 3743326"/>
                <a:gd name="connsiteY4" fmla="*/ 752475 h 3743326"/>
                <a:gd name="connsiteX5" fmla="*/ 1871663 w 3743326"/>
                <a:gd name="connsiteY5" fmla="*/ 0 h 3743326"/>
                <a:gd name="connsiteX6" fmla="*/ 3743326 w 3743326"/>
                <a:gd name="connsiteY6" fmla="*/ 1871663 h 3743326"/>
                <a:gd name="connsiteX7" fmla="*/ 1871663 w 3743326"/>
                <a:gd name="connsiteY7" fmla="*/ 3743326 h 3743326"/>
                <a:gd name="connsiteX8" fmla="*/ 0 w 3743326"/>
                <a:gd name="connsiteY8" fmla="*/ 1871663 h 3743326"/>
                <a:gd name="connsiteX9" fmla="*/ 1871663 w 3743326"/>
                <a:gd name="connsiteY9" fmla="*/ 0 h 374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43326" h="3743326">
                  <a:moveTo>
                    <a:pt x="1833563" y="752475"/>
                  </a:moveTo>
                  <a:cubicBezTo>
                    <a:pt x="1257537" y="752475"/>
                    <a:pt x="790575" y="1219437"/>
                    <a:pt x="790575" y="1795463"/>
                  </a:cubicBezTo>
                  <a:cubicBezTo>
                    <a:pt x="790575" y="2371489"/>
                    <a:pt x="1257537" y="2838451"/>
                    <a:pt x="1833563" y="2838451"/>
                  </a:cubicBezTo>
                  <a:cubicBezTo>
                    <a:pt x="2409589" y="2838451"/>
                    <a:pt x="2876551" y="2371489"/>
                    <a:pt x="2876551" y="1795463"/>
                  </a:cubicBezTo>
                  <a:cubicBezTo>
                    <a:pt x="2876551" y="1219437"/>
                    <a:pt x="2409589" y="752475"/>
                    <a:pt x="1833563" y="752475"/>
                  </a:cubicBezTo>
                  <a:close/>
                  <a:moveTo>
                    <a:pt x="1871663" y="0"/>
                  </a:moveTo>
                  <a:cubicBezTo>
                    <a:pt x="2905354" y="0"/>
                    <a:pt x="3743326" y="837972"/>
                    <a:pt x="3743326" y="1871663"/>
                  </a:cubicBezTo>
                  <a:cubicBezTo>
                    <a:pt x="3743326" y="2905354"/>
                    <a:pt x="2905354" y="3743326"/>
                    <a:pt x="1871663" y="3743326"/>
                  </a:cubicBezTo>
                  <a:cubicBezTo>
                    <a:pt x="837972" y="3743326"/>
                    <a:pt x="0" y="2905354"/>
                    <a:pt x="0" y="1871663"/>
                  </a:cubicBezTo>
                  <a:cubicBezTo>
                    <a:pt x="0" y="837972"/>
                    <a:pt x="837972" y="0"/>
                    <a:pt x="1871663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solidFill>
                <a:srgbClr val="131F3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400364-86B7-AAEA-7F75-7ECD5CF3F36D}"/>
                </a:ext>
              </a:extLst>
            </p:cNvPr>
            <p:cNvSpPr/>
            <p:nvPr/>
          </p:nvSpPr>
          <p:spPr>
            <a:xfrm>
              <a:off x="-1038225" y="5267325"/>
              <a:ext cx="2857500" cy="2857500"/>
            </a:xfrm>
            <a:prstGeom prst="ellipse">
              <a:avLst/>
            </a:prstGeom>
            <a:solidFill>
              <a:srgbClr val="121E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8360228-19E6-79F3-C8E1-99D01D22E8B9}"/>
              </a:ext>
            </a:extLst>
          </p:cNvPr>
          <p:cNvGrpSpPr/>
          <p:nvPr/>
        </p:nvGrpSpPr>
        <p:grpSpPr>
          <a:xfrm>
            <a:off x="503853" y="1075549"/>
            <a:ext cx="3620277" cy="4591050"/>
            <a:chOff x="465753" y="1057276"/>
            <a:chExt cx="3620277" cy="45910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195E00-278D-2F81-2C3F-1D4DF822831A}"/>
                </a:ext>
              </a:extLst>
            </p:cNvPr>
            <p:cNvSpPr/>
            <p:nvPr/>
          </p:nvSpPr>
          <p:spPr>
            <a:xfrm>
              <a:off x="465753" y="1057276"/>
              <a:ext cx="3620277" cy="4591050"/>
            </a:xfrm>
            <a:prstGeom prst="rect">
              <a:avLst/>
            </a:prstGeom>
            <a:solidFill>
              <a:srgbClr val="121E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dirty="0"/>
                <a:t>Tools and components used in the system.</a:t>
              </a:r>
              <a:endParaRPr lang="en-US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1044A9-6781-949E-63EB-D21B08119491}"/>
                </a:ext>
              </a:extLst>
            </p:cNvPr>
            <p:cNvSpPr txBox="1"/>
            <p:nvPr/>
          </p:nvSpPr>
          <p:spPr>
            <a:xfrm>
              <a:off x="484414" y="1116175"/>
              <a:ext cx="3583345" cy="1200329"/>
            </a:xfrm>
            <a:prstGeom prst="rect">
              <a:avLst/>
            </a:prstGeom>
            <a:solidFill>
              <a:srgbClr val="121E3E"/>
            </a:solidFill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FFFF"/>
                  </a:solidFill>
                  <a:latin typeface="Monospac821 BT" panose="020B0609020202020204" pitchFamily="49" charset="0"/>
                </a:rPr>
                <a:t>System Requirements</a:t>
              </a:r>
              <a:endParaRPr lang="en-IN" sz="3600" dirty="0">
                <a:solidFill>
                  <a:srgbClr val="FFFFFF"/>
                </a:solidFill>
                <a:latin typeface="Monospac821 BT" panose="020B06090202020202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474DBA-D3F9-6BEF-4B72-4260E63E8E84}"/>
                </a:ext>
              </a:extLst>
            </p:cNvPr>
            <p:cNvSpPr/>
            <p:nvPr/>
          </p:nvSpPr>
          <p:spPr>
            <a:xfrm flipV="1">
              <a:off x="527566" y="2316677"/>
              <a:ext cx="337185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1E164A6-CB4D-8BE7-7EC9-04877546C6B7}"/>
              </a:ext>
            </a:extLst>
          </p:cNvPr>
          <p:cNvSpPr/>
          <p:nvPr/>
        </p:nvSpPr>
        <p:spPr>
          <a:xfrm>
            <a:off x="4363034" y="662474"/>
            <a:ext cx="7553325" cy="5831632"/>
          </a:xfrm>
          <a:prstGeom prst="rect">
            <a:avLst/>
          </a:prstGeom>
          <a:solidFill>
            <a:srgbClr val="121E3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Hardware: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ESP32 Development Board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Neo-6M GPS Module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Vibration Motor and Buzzer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Li-ion Battery and Charging Module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Software: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Arduino IDE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Embedded C / Arduino Programming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Google Maps API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IoT Cloud Platform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Flutter development Software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30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282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Monospac821 BT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Nikilesh Kumar</dc:creator>
  <cp:lastModifiedBy>Nikilesh Kumar</cp:lastModifiedBy>
  <cp:revision>4</cp:revision>
  <dcterms:created xsi:type="dcterms:W3CDTF">2026-01-26T16:35:38Z</dcterms:created>
  <dcterms:modified xsi:type="dcterms:W3CDTF">2026-04-06T18:34:51Z</dcterms:modified>
</cp:coreProperties>
</file>